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61AFEF"/>
                </a:solidFill>
              </a:defRPr>
            </a:pPr>
            <a:r>
              <a:t>Real-Time Sign Language Translator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>
                <a:solidFill>
                  <a:srgbClr val="DCE0E8"/>
                </a:solidFill>
              </a:defRPr>
            </a:pPr>
            <a:r>
              <a:t>Capstone Review-1 Presentation</a:t>
            </a:r>
          </a:p>
          <a:p>
            <a:pPr>
              <a:defRPr sz="1600">
                <a:solidFill>
                  <a:srgbClr val="DCE0E8"/>
                </a:solidFill>
              </a:defRPr>
            </a:pPr>
            <a:endParaRPr/>
          </a:p>
          <a:p>
            <a:pPr>
              <a:defRPr sz="1600">
                <a:solidFill>
                  <a:srgbClr val="DCE0E8"/>
                </a:solidFill>
              </a:defRPr>
            </a:pPr>
            <a:r>
              <a:t>Team Members:</a:t>
            </a:r>
          </a:p>
          <a:p>
            <a:pPr>
              <a:defRPr sz="1600">
                <a:solidFill>
                  <a:srgbClr val="DCE0E8"/>
                </a:solidFill>
              </a:defRPr>
            </a:pPr>
            <a:r>
              <a:t>[Student 1 Name]</a:t>
            </a:r>
          </a:p>
          <a:p>
            <a:pPr>
              <a:defRPr sz="1600">
                <a:solidFill>
                  <a:srgbClr val="DCE0E8"/>
                </a:solidFill>
              </a:defRPr>
            </a:pPr>
            <a:r>
              <a:t>[Student 2 Name]</a:t>
            </a:r>
          </a:p>
          <a:p>
            <a:pPr>
              <a:defRPr sz="1600">
                <a:solidFill>
                  <a:srgbClr val="DCE0E8"/>
                </a:solidFill>
              </a:defRPr>
            </a:pPr>
            <a:r>
              <a:t>[Student 3 Name]</a:t>
            </a:r>
          </a:p>
          <a:p>
            <a:pPr>
              <a:defRPr sz="1600">
                <a:solidFill>
                  <a:srgbClr val="DCE0E8"/>
                </a:solidFill>
              </a:defRPr>
            </a:pPr>
            <a:endParaRPr/>
          </a:p>
          <a:p>
            <a:pPr>
              <a:defRPr sz="1600">
                <a:solidFill>
                  <a:srgbClr val="DCE0E8"/>
                </a:solidFill>
              </a:defRPr>
            </a:pPr>
            <a:r>
              <a:t>Supervisor: [Supervisor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1AFEF"/>
                </a:solidFill>
              </a:defRPr>
            </a:pPr>
            <a:r>
              <a:t>Individual 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Team Member 1: [Name 1]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Contribution: Computer Vision pipeline setup and MediaPipe landmark extraction logic.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Team Member 2: [Name 2]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Contribution: LSTM Sequence model architecture, hyperparameter tuning, and training.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Team Member 3: [Name 3]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Contribution: Frontend UI development and real-time threading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1AFEF"/>
                </a:solidFill>
              </a:defRPr>
            </a:pPr>
            <a:r>
              <a:t>B. Objective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Motivation: Breaking Communication Barriers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Deaf and hard-of-hearing individuals face immense daily friction when interacting with non-signers.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Purpose of the Work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To create a frictionless, software-only translation layer that requires no expensive or cumbersome hardware.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Core Aim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Translate continuous sign language gestures into readable text and synthesized speech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1AFEF"/>
                </a:solidFill>
              </a:defRPr>
            </a:pPr>
            <a:r>
              <a:t>C. Clarity &amp; Significance of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Hardware Limitations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Previous high-accuracy solutions rely on specialized smart gloves with flex sensors, which are socially awkward and costly.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Processing Latency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Cloud-based video processing introduces severe latency, ruining the natural flow of real-time conversation.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Significance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Providing a standard-webcam solution democratizes accessibility tools for millions of individuals globally.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1AFEF"/>
                </a:solidFill>
              </a:defRPr>
            </a:pPr>
            <a:r>
              <a:t>D. Feasibility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Technical Feasibility Assessment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Highly feasible due to recent advancements in Google MediaPipe for robust, lightweight pose tracking.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Project Scope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In Scope: Translation of the ASL alphabet and 50 highly common conversational phrases.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In Scope: Real-time processing achieving &gt;20 FPS on standard consumer laptops.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Out of Scope: Two-way translation (converting spoken English back into an animated 3D signing avatar).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1AFEF"/>
                </a:solidFill>
              </a:defRPr>
            </a:pPr>
            <a:r>
              <a:t>E. Existing Projects &amp;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Existing Solutions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Difference: Most academic projects use static CNNs for single letters. We use LSTMs for continuous gesture sequences.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Literature Review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Studied 'Spatio-Temporal Action Recognition' methodologies to understand temporal gesture dynamics.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Initial Prototypes &amp; Findings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Initial pipeline extracts 3D hand/pose landmarks at 30 FPS. LSTM baseline trained on WLASL dataset.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Timeline Adherence</a:t>
            </a:r>
          </a:p>
          <a:p>
            <a:pPr lvl="1">
              <a:defRPr sz="1600" b="0">
                <a:solidFill>
                  <a:srgbClr val="DCE0E8"/>
                </a:solidFill>
              </a:defRPr>
            </a:pPr>
            <a:r>
              <a:t>Weeks 1-3: MediaPipe Integration (Completed). Weeks 4-6: LSTM Training (On Track).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1AFEF"/>
                </a:solidFill>
              </a:defRPr>
            </a:pPr>
            <a:r>
              <a:t>G.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WLASL (Word-Level American Sign Language) Dataset Repository.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Lugaresi, C. et al. (2019). 'MediaPipe: A Framework for Building Perception Pipelines'.</a:t>
            </a:r>
          </a:p>
          <a:p>
            <a:pPr>
              <a:spcBef>
                <a:spcPts val="1200"/>
              </a:spcBef>
              <a:defRPr sz="2000" b="1">
                <a:solidFill>
                  <a:srgbClr val="DCE0E8"/>
                </a:solidFill>
              </a:defRPr>
            </a:pPr>
            <a:r>
              <a:t>Hochreiter, S., &amp; Schmidhuber, J. (1997). 'Long Short-Term Memory'. Neural Computation.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61AFEF"/>
                </a:solidFill>
              </a:defRPr>
            </a:pPr>
            <a:r>
              <a:t>F. Project Modules &amp; Associations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06630"/>
            <a:ext cx="822834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600">
                <a:solidFill>
                  <a:srgbClr val="DCE0E8"/>
                </a:solidFill>
              </a:defRPr>
            </a:pPr>
            <a:r>
              <a:rPr dirty="0"/>
              <a:t>The diagram below outlines the core modules of the project, defining their specific purposes and</a:t>
            </a:r>
            <a:endParaRPr lang="en-IN" dirty="0"/>
          </a:p>
          <a:p>
            <a:pPr>
              <a:defRPr sz="1600">
                <a:solidFill>
                  <a:srgbClr val="DCE0E8"/>
                </a:solidFill>
              </a:defRPr>
            </a:pPr>
            <a:r>
              <a:rPr dirty="0"/>
              <a:t> how they associate with each other to achieve the final objective.</a:t>
            </a:r>
          </a:p>
        </p:txBody>
      </p:sp>
      <p:sp>
        <p:nvSpPr>
          <p:cNvPr id="4" name="Process 3"/>
          <p:cNvSpPr/>
          <p:nvPr/>
        </p:nvSpPr>
        <p:spPr>
          <a:xfrm>
            <a:off x="2514600" y="2011680"/>
            <a:ext cx="4114800" cy="73152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Webcam Capture Module</a:t>
            </a:r>
          </a:p>
          <a:p>
            <a:pPr algn="ctr">
              <a:defRPr sz="1400" b="1"/>
            </a:pPr>
            <a:r>
              <a:t>(OpenCV)</a:t>
            </a:r>
          </a:p>
        </p:txBody>
      </p:sp>
      <p:sp>
        <p:nvSpPr>
          <p:cNvPr id="5" name="Down Arrow 4"/>
          <p:cNvSpPr/>
          <p:nvPr/>
        </p:nvSpPr>
        <p:spPr>
          <a:xfrm>
            <a:off x="4434840" y="2743200"/>
            <a:ext cx="274320" cy="2743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rocess 5"/>
          <p:cNvSpPr/>
          <p:nvPr/>
        </p:nvSpPr>
        <p:spPr>
          <a:xfrm>
            <a:off x="2514600" y="3017520"/>
            <a:ext cx="4114800" cy="73152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Landmark Extraction Module</a:t>
            </a:r>
          </a:p>
          <a:p>
            <a:pPr algn="ctr">
              <a:defRPr sz="1400" b="1"/>
            </a:pPr>
            <a:r>
              <a:t>(Google MediaPipe)</a:t>
            </a:r>
          </a:p>
        </p:txBody>
      </p:sp>
      <p:sp>
        <p:nvSpPr>
          <p:cNvPr id="7" name="Down Arrow 6"/>
          <p:cNvSpPr/>
          <p:nvPr/>
        </p:nvSpPr>
        <p:spPr>
          <a:xfrm>
            <a:off x="4434840" y="3749040"/>
            <a:ext cx="274320" cy="2743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rocess 7"/>
          <p:cNvSpPr/>
          <p:nvPr/>
        </p:nvSpPr>
        <p:spPr>
          <a:xfrm>
            <a:off x="2514600" y="4023360"/>
            <a:ext cx="4114800" cy="73152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Temporal Sequence Module</a:t>
            </a:r>
          </a:p>
          <a:p>
            <a:pPr algn="ctr">
              <a:defRPr sz="1400" b="1"/>
            </a:pPr>
            <a:r>
              <a:t>(PyTorch LSTM)</a:t>
            </a:r>
          </a:p>
        </p:txBody>
      </p:sp>
      <p:sp>
        <p:nvSpPr>
          <p:cNvPr id="9" name="Down Arrow 8"/>
          <p:cNvSpPr/>
          <p:nvPr/>
        </p:nvSpPr>
        <p:spPr>
          <a:xfrm>
            <a:off x="4434840" y="4754880"/>
            <a:ext cx="274320" cy="27432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rocess 9"/>
          <p:cNvSpPr/>
          <p:nvPr/>
        </p:nvSpPr>
        <p:spPr>
          <a:xfrm>
            <a:off x="2514600" y="5029200"/>
            <a:ext cx="4114800" cy="73152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Translation Output Module</a:t>
            </a:r>
          </a:p>
          <a:p>
            <a:pPr algn="ctr">
              <a:defRPr sz="1400" b="1"/>
            </a:pPr>
            <a:r>
              <a:t>(Text &amp; Audio Syntax)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483</Words>
  <Application>Microsoft Office PowerPoint</Application>
  <PresentationFormat>On-screen Show (4:3)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Real-Time Sign Language Translator</vt:lpstr>
      <vt:lpstr>Individual Team Contributions</vt:lpstr>
      <vt:lpstr>B. Objective &amp; Motivation</vt:lpstr>
      <vt:lpstr>C. Clarity &amp; Significance of Problem</vt:lpstr>
      <vt:lpstr>D. Feasibility &amp; Scope</vt:lpstr>
      <vt:lpstr>E. Existing Projects &amp; Research</vt:lpstr>
      <vt:lpstr>G. References</vt:lpstr>
      <vt:lpstr>F. Project Modules &amp; Associations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 26010633</cp:lastModifiedBy>
  <cp:revision>2</cp:revision>
  <dcterms:created xsi:type="dcterms:W3CDTF">2013-01-27T09:14:16Z</dcterms:created>
  <dcterms:modified xsi:type="dcterms:W3CDTF">2026-09-07T19:04:19Z</dcterms:modified>
  <cp:category/>
</cp:coreProperties>
</file>