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228B22"/>
                </a:solidFill>
              </a:defRPr>
            </a:pPr>
            <a:r>
              <a:t>Crop Disease Detector &amp; Treatment Advisor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600">
                <a:solidFill>
                  <a:srgbClr val="142814"/>
                </a:solidFill>
              </a:defRPr>
            </a:pPr>
            <a:r>
              <a:t>Capstone Review-1 Presentation</a:t>
            </a:r>
          </a:p>
          <a:p>
            <a:pPr>
              <a:defRPr sz="1600">
                <a:solidFill>
                  <a:srgbClr val="142814"/>
                </a:solidFill>
              </a:defRPr>
            </a:pPr>
            <a:endParaRPr/>
          </a:p>
          <a:p>
            <a:pPr>
              <a:defRPr sz="1600">
                <a:solidFill>
                  <a:srgbClr val="142814"/>
                </a:solidFill>
              </a:defRPr>
            </a:pPr>
            <a:r>
              <a:t>Team Members:</a:t>
            </a:r>
          </a:p>
          <a:p>
            <a:pPr>
              <a:defRPr sz="1600">
                <a:solidFill>
                  <a:srgbClr val="142814"/>
                </a:solidFill>
              </a:defRPr>
            </a:pPr>
            <a:r>
              <a:t>[Student 1 Name]</a:t>
            </a:r>
          </a:p>
          <a:p>
            <a:pPr>
              <a:defRPr sz="1600">
                <a:solidFill>
                  <a:srgbClr val="142814"/>
                </a:solidFill>
              </a:defRPr>
            </a:pPr>
            <a:r>
              <a:t>[Student 2 Name]</a:t>
            </a:r>
          </a:p>
          <a:p>
            <a:pPr>
              <a:defRPr sz="1600">
                <a:solidFill>
                  <a:srgbClr val="142814"/>
                </a:solidFill>
              </a:defRPr>
            </a:pPr>
            <a:r>
              <a:t>[Student 3 Name]</a:t>
            </a:r>
          </a:p>
          <a:p>
            <a:pPr>
              <a:defRPr sz="1600">
                <a:solidFill>
                  <a:srgbClr val="142814"/>
                </a:solidFill>
              </a:defRPr>
            </a:pPr>
            <a:endParaRPr/>
          </a:p>
          <a:p>
            <a:pPr>
              <a:defRPr sz="1600">
                <a:solidFill>
                  <a:srgbClr val="142814"/>
                </a:solidFill>
              </a:defRPr>
            </a:pPr>
            <a:r>
              <a:t>Supervisor: [Supervisor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28B22"/>
                </a:solidFill>
              </a:defRPr>
            </a:pPr>
            <a:r>
              <a:t>Individual Team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Bef>
                <a:spcPts val="1200"/>
              </a:spcBef>
              <a:defRPr sz="2000" b="1">
                <a:solidFill>
                  <a:srgbClr val="142814"/>
                </a:solidFill>
              </a:defRPr>
            </a:pPr>
            <a:r>
              <a:t>Team Member 1: [Name 1]</a:t>
            </a:r>
          </a:p>
          <a:p>
            <a:pPr lvl="1">
              <a:defRPr sz="1600" b="0">
                <a:solidFill>
                  <a:srgbClr val="142814"/>
                </a:solidFill>
              </a:defRPr>
            </a:pPr>
            <a:r>
              <a:t>Contribution: Machine Learning model training, dataset curation, and model quantization for mobile.</a:t>
            </a:r>
          </a:p>
          <a:p>
            <a:pPr>
              <a:spcBef>
                <a:spcPts val="1200"/>
              </a:spcBef>
              <a:defRPr sz="2000" b="1">
                <a:solidFill>
                  <a:srgbClr val="142814"/>
                </a:solidFill>
              </a:defRPr>
            </a:pPr>
            <a:r>
              <a:t>Team Member 2: [Name 2]</a:t>
            </a:r>
          </a:p>
          <a:p>
            <a:pPr lvl="1">
              <a:defRPr sz="1600" b="0">
                <a:solidFill>
                  <a:srgbClr val="142814"/>
                </a:solidFill>
              </a:defRPr>
            </a:pPr>
            <a:r>
              <a:t>Contribution: Android application architecture, UI/UX design, and camera API integration.</a:t>
            </a:r>
          </a:p>
          <a:p>
            <a:pPr>
              <a:spcBef>
                <a:spcPts val="1200"/>
              </a:spcBef>
              <a:defRPr sz="2000" b="1">
                <a:solidFill>
                  <a:srgbClr val="142814"/>
                </a:solidFill>
              </a:defRPr>
            </a:pPr>
            <a:r>
              <a:t>Team Member 3: [Name 3]</a:t>
            </a:r>
          </a:p>
          <a:p>
            <a:pPr lvl="1">
              <a:defRPr sz="1600" b="0">
                <a:solidFill>
                  <a:srgbClr val="142814"/>
                </a:solidFill>
              </a:defRPr>
            </a:pPr>
            <a:r>
              <a:t>Contribution: Text-to-Speech (TTS) integration and local treatment database management.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28B22"/>
                </a:solidFill>
              </a:defRPr>
            </a:pPr>
            <a:r>
              <a:t>B. Objective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Bef>
                <a:spcPts val="1200"/>
              </a:spcBef>
              <a:defRPr sz="2000" b="1">
                <a:solidFill>
                  <a:srgbClr val="142814"/>
                </a:solidFill>
              </a:defRPr>
            </a:pPr>
            <a:r>
              <a:t>Motivation: Securing the Global Food Supply</a:t>
            </a:r>
          </a:p>
          <a:p>
            <a:pPr lvl="1">
              <a:defRPr sz="1600" b="0">
                <a:solidFill>
                  <a:srgbClr val="142814"/>
                </a:solidFill>
              </a:defRPr>
            </a:pPr>
            <a:r>
              <a:t>Smallholder farmers produce 30% of global food but suffer massive losses due to undiagnosed crop diseases.</a:t>
            </a:r>
          </a:p>
          <a:p>
            <a:pPr>
              <a:spcBef>
                <a:spcPts val="1200"/>
              </a:spcBef>
              <a:defRPr sz="2000" b="1">
                <a:solidFill>
                  <a:srgbClr val="142814"/>
                </a:solidFill>
              </a:defRPr>
            </a:pPr>
            <a:r>
              <a:t>Purpose of the Work</a:t>
            </a:r>
          </a:p>
          <a:p>
            <a:pPr lvl="1">
              <a:defRPr sz="1600" b="0">
                <a:solidFill>
                  <a:srgbClr val="142814"/>
                </a:solidFill>
              </a:defRPr>
            </a:pPr>
            <a:r>
              <a:t>To empower rural farmers with a diagnostic tool that requires no internet connection and bypasses literacy barriers.</a:t>
            </a:r>
          </a:p>
          <a:p>
            <a:pPr>
              <a:spcBef>
                <a:spcPts val="1200"/>
              </a:spcBef>
              <a:defRPr sz="2000" b="1">
                <a:solidFill>
                  <a:srgbClr val="142814"/>
                </a:solidFill>
              </a:defRPr>
            </a:pPr>
            <a:r>
              <a:t>Core Aim</a:t>
            </a:r>
          </a:p>
          <a:p>
            <a:pPr lvl="1">
              <a:defRPr sz="1600" b="0">
                <a:solidFill>
                  <a:srgbClr val="142814"/>
                </a:solidFill>
              </a:defRPr>
            </a:pPr>
            <a:r>
              <a:t>Develop an offline, voice-guided AI application deployed directly on low-end smartphones.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28B22"/>
                </a:solidFill>
              </a:defRPr>
            </a:pPr>
            <a:r>
              <a:t>C. Clarity &amp; Significance of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Bef>
                <a:spcPts val="1200"/>
              </a:spcBef>
              <a:defRPr sz="2000" b="1">
                <a:solidFill>
                  <a:srgbClr val="142814"/>
                </a:solidFill>
              </a:defRPr>
            </a:pPr>
            <a:r>
              <a:t>The Information Gap</a:t>
            </a:r>
          </a:p>
          <a:p>
            <a:pPr lvl="1">
              <a:defRPr sz="1600" b="0">
                <a:solidFill>
                  <a:srgbClr val="142814"/>
                </a:solidFill>
              </a:defRPr>
            </a:pPr>
            <a:r>
              <a:t>Agronomists and extension workers are geographically sparse, leaving farmers to guess pesticide treatments.</a:t>
            </a:r>
          </a:p>
          <a:p>
            <a:pPr>
              <a:spcBef>
                <a:spcPts val="1200"/>
              </a:spcBef>
              <a:defRPr sz="2000" b="1">
                <a:solidFill>
                  <a:srgbClr val="142814"/>
                </a:solidFill>
              </a:defRPr>
            </a:pPr>
            <a:r>
              <a:t>Technological Barriers in Existing Tech</a:t>
            </a:r>
          </a:p>
          <a:p>
            <a:pPr lvl="1">
              <a:defRPr sz="1600" b="0">
                <a:solidFill>
                  <a:srgbClr val="142814"/>
                </a:solidFill>
              </a:defRPr>
            </a:pPr>
            <a:r>
              <a:t>Existing ag-tech solutions rely heavily on cloud processing (requiring 4G/5G) and text-heavy interfaces.</a:t>
            </a:r>
          </a:p>
          <a:p>
            <a:pPr>
              <a:spcBef>
                <a:spcPts val="1200"/>
              </a:spcBef>
              <a:defRPr sz="2000" b="1">
                <a:solidFill>
                  <a:srgbClr val="142814"/>
                </a:solidFill>
              </a:defRPr>
            </a:pPr>
            <a:r>
              <a:t>Significance</a:t>
            </a:r>
          </a:p>
          <a:p>
            <a:pPr lvl="1">
              <a:defRPr sz="1600" b="0">
                <a:solidFill>
                  <a:srgbClr val="142814"/>
                </a:solidFill>
              </a:defRPr>
            </a:pPr>
            <a:r>
              <a:t>Bridging the literacy and connectivity gap can reduce crop mortality by up to 40% in targeted regions, directly boosting local economies.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28B22"/>
                </a:solidFill>
              </a:defRPr>
            </a:pPr>
            <a:r>
              <a:t>D. Feasibility &amp;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Bef>
                <a:spcPts val="1200"/>
              </a:spcBef>
              <a:defRPr sz="2000" b="1">
                <a:solidFill>
                  <a:srgbClr val="142814"/>
                </a:solidFill>
              </a:defRPr>
            </a:pPr>
            <a:r>
              <a:t>Technical Feasibility Assessment</a:t>
            </a:r>
          </a:p>
          <a:p>
            <a:pPr lvl="1">
              <a:defRPr sz="1600" b="0">
                <a:solidFill>
                  <a:srgbClr val="142814"/>
                </a:solidFill>
              </a:defRPr>
            </a:pPr>
            <a:r>
              <a:t>Highly feasible due to the availability of the open-source PlantVillage dataset and highly efficient MobileNet architectures.</a:t>
            </a:r>
          </a:p>
          <a:p>
            <a:pPr>
              <a:spcBef>
                <a:spcPts val="1200"/>
              </a:spcBef>
              <a:defRPr sz="2000" b="1">
                <a:solidFill>
                  <a:srgbClr val="142814"/>
                </a:solidFill>
              </a:defRPr>
            </a:pPr>
            <a:r>
              <a:t>Project Scope</a:t>
            </a:r>
          </a:p>
          <a:p>
            <a:pPr lvl="1">
              <a:defRPr sz="1600" b="0">
                <a:solidFill>
                  <a:srgbClr val="142814"/>
                </a:solidFill>
              </a:defRPr>
            </a:pPr>
            <a:r>
              <a:t>In Scope: Disease classification for 3 staple regional crops (e.g., Wheat, Rice, Corn).</a:t>
            </a:r>
          </a:p>
          <a:p>
            <a:pPr lvl="1">
              <a:defRPr sz="1600" b="0">
                <a:solidFill>
                  <a:srgbClr val="142814"/>
                </a:solidFill>
              </a:defRPr>
            </a:pPr>
            <a:r>
              <a:t>In Scope: Local on-device inference and Text-to-Speech (TTS) in 2 local languages.</a:t>
            </a:r>
          </a:p>
          <a:p>
            <a:pPr lvl="1">
              <a:defRPr sz="1600" b="0">
                <a:solidFill>
                  <a:srgbClr val="142814"/>
                </a:solidFill>
              </a:defRPr>
            </a:pPr>
            <a:r>
              <a:t>Out of Scope: Real-time drone surveillance or automated hardware treatment dispensing.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28B22"/>
                </a:solidFill>
              </a:defRPr>
            </a:pPr>
            <a:r>
              <a:t>E. Existing Projects &amp;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Bef>
                <a:spcPts val="1200"/>
              </a:spcBef>
              <a:defRPr sz="2000" b="1">
                <a:solidFill>
                  <a:srgbClr val="142814"/>
                </a:solidFill>
              </a:defRPr>
            </a:pPr>
            <a:r>
              <a:t>Existing Solutions (e.g., Plantix, Agrio)</a:t>
            </a:r>
          </a:p>
          <a:p>
            <a:pPr lvl="1">
              <a:defRPr sz="1600" b="0">
                <a:solidFill>
                  <a:srgbClr val="142814"/>
                </a:solidFill>
              </a:defRPr>
            </a:pPr>
            <a:r>
              <a:t>Difference: Current apps require active internet for cloud inference. Our project is 100% offline and voice-first.</a:t>
            </a:r>
          </a:p>
          <a:p>
            <a:pPr>
              <a:spcBef>
                <a:spcPts val="1200"/>
              </a:spcBef>
              <a:defRPr sz="2000" b="1">
                <a:solidFill>
                  <a:srgbClr val="142814"/>
                </a:solidFill>
              </a:defRPr>
            </a:pPr>
            <a:r>
              <a:t>Literature Review</a:t>
            </a:r>
          </a:p>
          <a:p>
            <a:pPr lvl="1">
              <a:defRPr sz="1600" b="0">
                <a:solidFill>
                  <a:srgbClr val="142814"/>
                </a:solidFill>
              </a:defRPr>
            </a:pPr>
            <a:r>
              <a:t>Analyzed 'Searching for MobileNetV3' (Howard et al.) confirming its optimality for edge devices.</a:t>
            </a:r>
          </a:p>
          <a:p>
            <a:pPr>
              <a:spcBef>
                <a:spcPts val="1200"/>
              </a:spcBef>
              <a:defRPr sz="2000" b="1">
                <a:solidFill>
                  <a:srgbClr val="142814"/>
                </a:solidFill>
              </a:defRPr>
            </a:pPr>
            <a:r>
              <a:t>Initial Prototypes &amp; Findings</a:t>
            </a:r>
          </a:p>
          <a:p>
            <a:pPr lvl="1">
              <a:defRPr sz="1600" b="0">
                <a:solidFill>
                  <a:srgbClr val="142814"/>
                </a:solidFill>
              </a:defRPr>
            </a:pPr>
            <a:r>
              <a:t>Baseline model trained on a subset of data yielded 92% validation accuracy; TTS engine successfully integrated in initial prototype.</a:t>
            </a:r>
          </a:p>
          <a:p>
            <a:pPr>
              <a:spcBef>
                <a:spcPts val="1200"/>
              </a:spcBef>
              <a:defRPr sz="2000" b="1">
                <a:solidFill>
                  <a:srgbClr val="142814"/>
                </a:solidFill>
              </a:defRPr>
            </a:pPr>
            <a:r>
              <a:t>Timeline Adherence</a:t>
            </a:r>
          </a:p>
          <a:p>
            <a:pPr lvl="1">
              <a:defRPr sz="1600" b="0">
                <a:solidFill>
                  <a:srgbClr val="142814"/>
                </a:solidFill>
              </a:defRPr>
            </a:pPr>
            <a:r>
              <a:t>Weeks 1-3: Data collection (Completed). Weeks 4-6: Model compression (On Track).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28B22"/>
                </a:solidFill>
              </a:defRPr>
            </a:pPr>
            <a:r>
              <a:t>G.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Bef>
                <a:spcPts val="1200"/>
              </a:spcBef>
              <a:defRPr sz="2000" b="1">
                <a:solidFill>
                  <a:srgbClr val="142814"/>
                </a:solidFill>
              </a:defRPr>
            </a:pPr>
            <a:r>
              <a:t>Hughes, D. P., &amp; Salathé, M. (2015). 'An open access repository of images on plant health...'</a:t>
            </a:r>
          </a:p>
          <a:p>
            <a:pPr>
              <a:spcBef>
                <a:spcPts val="1200"/>
              </a:spcBef>
              <a:defRPr sz="2000" b="1">
                <a:solidFill>
                  <a:srgbClr val="142814"/>
                </a:solidFill>
              </a:defRPr>
            </a:pPr>
            <a:r>
              <a:t>Howard, A., et al. (2019). 'Searching for MobileNetV3'. IEEE ICCV.</a:t>
            </a:r>
          </a:p>
          <a:p>
            <a:pPr>
              <a:spcBef>
                <a:spcPts val="1200"/>
              </a:spcBef>
              <a:defRPr sz="2000" b="1">
                <a:solidFill>
                  <a:srgbClr val="142814"/>
                </a:solidFill>
              </a:defRPr>
            </a:pPr>
            <a:r>
              <a:t>FAO Reports on Smallholder Agricultural Productivity (2023).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28B22"/>
                </a:solidFill>
              </a:defRPr>
            </a:pPr>
            <a:r>
              <a:t>F. Project Modules &amp; Associations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74829" cy="8617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1600">
                <a:solidFill>
                  <a:srgbClr val="142814"/>
                </a:solidFill>
              </a:defRPr>
            </a:pPr>
            <a:r>
              <a:rPr dirty="0"/>
              <a:t>The diagram below outlines the core modules of the project, defining their specific purposes and </a:t>
            </a:r>
            <a:endParaRPr lang="en-IN"/>
          </a:p>
          <a:p>
            <a:pPr>
              <a:defRPr sz="1600">
                <a:solidFill>
                  <a:srgbClr val="142814"/>
                </a:solidFill>
              </a:defRPr>
            </a:pPr>
            <a:r>
              <a:t>how they associate with each other to achieve the final objective.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3657600"/>
            <a:ext cx="182880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Image Capture Module</a:t>
            </a:r>
          </a:p>
          <a:p>
            <a:pPr algn="ctr">
              <a:defRPr sz="1400" b="1"/>
            </a:pPr>
            <a:r>
              <a:t>(Camera X)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194560" y="4069080"/>
            <a:ext cx="365760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560320" y="3657600"/>
            <a:ext cx="182880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AI Inference Module</a:t>
            </a:r>
          </a:p>
          <a:p>
            <a:pPr algn="ctr">
              <a:defRPr sz="1400" b="1"/>
            </a:pPr>
            <a:r>
              <a:t>(TFLite CNN)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389120" y="4069080"/>
            <a:ext cx="365760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754880" y="3657600"/>
            <a:ext cx="182880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Rule Engine Module</a:t>
            </a:r>
          </a:p>
          <a:p>
            <a:pPr algn="ctr">
              <a:defRPr sz="1400" b="1"/>
            </a:pPr>
            <a:r>
              <a:t>(SQLite DB)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583680" y="4069080"/>
            <a:ext cx="365760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949440" y="3657600"/>
            <a:ext cx="182880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Voice UI Module</a:t>
            </a:r>
          </a:p>
          <a:p>
            <a:pPr algn="ctr">
              <a:defRPr sz="1400" b="1"/>
            </a:pPr>
            <a:r>
              <a:t>(TTS Engine)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538</Words>
  <Application>Microsoft Office PowerPoint</Application>
  <PresentationFormat>On-screen Show (4:3)</PresentationFormat>
  <Paragraphs>68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Crop Disease Detector &amp; Treatment Advisor</vt:lpstr>
      <vt:lpstr>Individual Team Contributions</vt:lpstr>
      <vt:lpstr>B. Objective &amp; Motivation</vt:lpstr>
      <vt:lpstr>C. Clarity &amp; Significance of Problem</vt:lpstr>
      <vt:lpstr>D. Feasibility &amp; Scope</vt:lpstr>
      <vt:lpstr>E. Existing Projects &amp; Research</vt:lpstr>
      <vt:lpstr>G. References</vt:lpstr>
      <vt:lpstr>F. Project Modules &amp; Associations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IN 26010633</cp:lastModifiedBy>
  <cp:revision>2</cp:revision>
  <dcterms:created xsi:type="dcterms:W3CDTF">2013-01-27T09:14:16Z</dcterms:created>
  <dcterms:modified xsi:type="dcterms:W3CDTF">2026-09-07T19:04:00Z</dcterms:modified>
  <cp:category/>
</cp:coreProperties>
</file>