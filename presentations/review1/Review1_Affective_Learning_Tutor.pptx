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Affective Adaptive Learning Tutor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Capstone Review-1 Presentation</a:t>
            </a:r>
          </a:p>
          <a:p>
            <a:pPr>
              <a:defRPr sz="1600">
                <a:solidFill>
                  <a:srgbClr val="141414"/>
                </a:solidFill>
              </a:defRPr>
            </a:pP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Team Members: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[Student 1 Name]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[Student 2 Name]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[Student 3 Name]</a:t>
            </a:r>
          </a:p>
          <a:p>
            <a:pPr>
              <a:defRPr sz="1600">
                <a:solidFill>
                  <a:srgbClr val="141414"/>
                </a:solidFill>
              </a:defRPr>
            </a:pP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Supervisor: 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Individual 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Team Member 1: [Name 1]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Contribution: Facial emotion recognition CNN training (FER-2013).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Team Member 2: [Name 2]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Contribution: Reinforcement Learning (Q-learning) logic engine development.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Team Member 3: [Name 3]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Contribution: Full-stack React integration and WebRTC video capture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B. Objective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Motivation: The Missing Human Element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Traditional digital learning platforms lack the emotional intelligence and empathy of a human teacher.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Purpose of the Work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To create an AI tutor that 'reads the room' and dynamically adapts to the student's cognitive state.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Core Aim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Maximize engagement and retention by modulating task difficulty based on real-time frustration or boredom.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C. Clarity &amp; Significance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Inflexible Curriculums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Static logic trees cannot adapt to a student's cognitive overload or waning attention span.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High Attrition Rates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Students frequently disengage, become frustrated, and abandon digital courses without emotional intervention.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Significance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Keeping a student in the 'Zone of Proximal Development' dramatically improves learning outcomes and educational equity.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D. Feasibility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Technical Feasibility Assessment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Highly feasible given modern advancements in fast, in-browser facial expression classification APIs.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Project Scope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In Scope: Facial emotion recognition (6 primary emotions) via standard webcam.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In Scope: Adaptive math quiz engine serving as the proof-of-concept curriculum.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Out of Scope: Multi-modal biometrics (e.g., heart rate monitors or eye-tracking hardware).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E. Existing Projects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Existing Solutions (e.g., Coursera, edX)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Difference: Massive Open Online Courses are completely static. Our platform is a dynamic, closed-loop feedback system.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Literature Review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Studied Sidney D'Mello's research on 'Affective Computing in Education' and Vygotsky's learning theories.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Initial Prototypes &amp; Findings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CNN classifier achieving 72% accuracy on baseline emotions; basic Q-learning reward loop structured.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Timeline Adherence</a:t>
            </a:r>
          </a:p>
          <a:p>
            <a:pPr lvl="1">
              <a:defRPr b="0" sz="1600">
                <a:solidFill>
                  <a:srgbClr val="141414"/>
                </a:solidFill>
              </a:defRPr>
            </a:pPr>
            <a:r>
              <a:t>Weeks 1-3: Model Training (Completed). Weeks 4-6: RL Integration (On Track).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G.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Goodfellow, I. J. et al. (2013). 'Challenges in Representation Learning: A report on three machine learning contests' (FER-2013).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D'Mello, S., et al. (2014). 'Confusion can be beneficial for learning'. Learning and Instruction.</a:t>
            </a:r>
          </a:p>
          <a:p>
            <a:pPr>
              <a:spcBef>
                <a:spcPts val="1200"/>
              </a:spcBef>
              <a:defRPr b="1" sz="2000">
                <a:solidFill>
                  <a:srgbClr val="141414"/>
                </a:solidFill>
              </a:defRPr>
            </a:pPr>
            <a:r>
              <a:t>Vygotsky, L. S. (1978). 'Mind in society: The development of higher psychological processes'.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F. Project Modules &amp; Associations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141414"/>
                </a:solidFill>
              </a:defRPr>
            </a:pPr>
            <a:r>
              <a:t>The diagram below outlines the core modules of the project, defining their specific purposes and how they associate with each other to achieve the final objective.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743200"/>
            <a:ext cx="274320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Sensor Module</a:t>
            </a:r>
          </a:p>
          <a:p>
            <a:pPr algn="ctr">
              <a:defRPr sz="1400" b="1"/>
            </a:pPr>
            <a:r>
              <a:t>(Webcam Frames)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2743200"/>
            <a:ext cx="274320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Analysis Module</a:t>
            </a:r>
          </a:p>
          <a:p>
            <a:pPr algn="ctr">
              <a:defRPr sz="1400" b="1"/>
            </a:pPr>
            <a:r>
              <a:t>(Emotion CNN)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4572000"/>
            <a:ext cx="274320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Decision Engine</a:t>
            </a:r>
          </a:p>
          <a:p>
            <a:pPr algn="ctr">
              <a:defRPr sz="1400" b="1"/>
            </a:pPr>
            <a:r>
              <a:t>(RL Agent)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4572000"/>
            <a:ext cx="274320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Actuation Module</a:t>
            </a:r>
          </a:p>
          <a:p>
            <a:pPr algn="ctr">
              <a:defRPr sz="1400" b="1"/>
            </a:pPr>
            <a:r>
              <a:t>(Adaptive React UI)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200400"/>
            <a:ext cx="9144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2651760" y="3840480"/>
            <a:ext cx="182880" cy="7315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114800" y="5029200"/>
            <a:ext cx="9144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